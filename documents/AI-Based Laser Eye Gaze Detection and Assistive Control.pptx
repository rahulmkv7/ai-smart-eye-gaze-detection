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314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81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229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55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50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0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48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92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81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7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6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B67EA73-93B0-4284-8F1A-ABE2FE25158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5A743C6-76D4-4DB4-B79A-104D22E8E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3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1D33-5493-128B-1505-C24E1850C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64343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AI-Based Laser Eye Gaze Detection and Assistive Control System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2B352-1DBE-6DE2-6A43-08511B0DE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8101" y="4455618"/>
            <a:ext cx="3500350" cy="1765568"/>
          </a:xfrm>
        </p:spPr>
        <p:txBody>
          <a:bodyPr>
            <a:normAutofit lnSpcReduction="10000"/>
          </a:bodyPr>
          <a:lstStyle/>
          <a:p>
            <a:r>
              <a:rPr lang="en-IN" sz="1600" b="1" dirty="0"/>
              <a:t>Presented by:</a:t>
            </a:r>
          </a:p>
          <a:p>
            <a:r>
              <a:rPr lang="en-IN" sz="1600" dirty="0"/>
              <a:t> Rahul Mohan K V</a:t>
            </a:r>
          </a:p>
          <a:p>
            <a:r>
              <a:rPr lang="en-IN" sz="1600" dirty="0"/>
              <a:t>Shreya </a:t>
            </a:r>
            <a:r>
              <a:rPr lang="en-IN" sz="1600" dirty="0" err="1"/>
              <a:t>Jaychandran</a:t>
            </a:r>
            <a:endParaRPr lang="en-IN" sz="1600" dirty="0"/>
          </a:p>
          <a:p>
            <a:r>
              <a:rPr lang="en-IN" sz="1600" dirty="0" err="1"/>
              <a:t>Sreelekshmi</a:t>
            </a:r>
            <a:r>
              <a:rPr lang="en-IN" sz="1600" dirty="0"/>
              <a:t> VM</a:t>
            </a:r>
          </a:p>
          <a:p>
            <a:r>
              <a:rPr lang="en-IN" sz="1600" dirty="0"/>
              <a:t>Abhilash </a:t>
            </a:r>
          </a:p>
        </p:txBody>
      </p:sp>
    </p:spTree>
    <p:extLst>
      <p:ext uri="{BB962C8B-B14F-4D97-AF65-F5344CB8AC3E}">
        <p14:creationId xmlns:p14="http://schemas.microsoft.com/office/powerpoint/2010/main" val="320901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47755-1793-5DD9-2484-4124025B9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8600"/>
            <a:ext cx="7729728" cy="10287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CFCA-D648-0EEB-81E1-B39C9CF2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57" y="1665513"/>
            <a:ext cx="10793186" cy="4963887"/>
          </a:xfrm>
        </p:spPr>
        <p:txBody>
          <a:bodyPr>
            <a:normAutofit/>
          </a:bodyPr>
          <a:lstStyle/>
          <a:p>
            <a:r>
              <a:rPr lang="en-US" sz="3200" dirty="0"/>
              <a:t>Severe paralysis (like ALS or strokes) traps active, alert minds inside unresponsive bodies.</a:t>
            </a:r>
          </a:p>
          <a:p>
            <a:r>
              <a:rPr lang="en-US" sz="3200" dirty="0"/>
              <a:t>Patients lose the ability to speak, write, or point, making basic communication impossible.</a:t>
            </a:r>
          </a:p>
          <a:p>
            <a:r>
              <a:rPr lang="en-US" sz="3200" dirty="0"/>
              <a:t>Existing assistive eye-trackers are often highly expensive, bulky, or require uncomfortable, invasive gear.</a:t>
            </a:r>
            <a:endParaRPr lang="en-US" sz="3200" b="1" dirty="0"/>
          </a:p>
          <a:p>
            <a:r>
              <a:rPr lang="en-US" sz="3200" dirty="0"/>
              <a:t>Our proposed system is an AI-powered system that uses eye movements to control a pointing device.</a:t>
            </a:r>
          </a:p>
        </p:txBody>
      </p:sp>
    </p:spTree>
    <p:extLst>
      <p:ext uri="{BB962C8B-B14F-4D97-AF65-F5344CB8AC3E}">
        <p14:creationId xmlns:p14="http://schemas.microsoft.com/office/powerpoint/2010/main" val="81741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2EDE-DA7F-3FEE-CD53-664CFC70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496006" cy="562482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0B7A7-1713-9430-D374-32BC59693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849085"/>
            <a:ext cx="10675620" cy="6008915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     Primary Objective</a:t>
            </a:r>
          </a:p>
          <a:p>
            <a:r>
              <a:rPr lang="en-US" sz="2000" dirty="0"/>
              <a:t>To design and implement an AI-based laser eye gaze detection system that enables hands-free communication and control for physically impaired users by translating eye movements into physical actions.</a:t>
            </a:r>
          </a:p>
          <a:p>
            <a:pPr marL="0" indent="0">
              <a:buNone/>
            </a:pPr>
            <a:r>
              <a:rPr lang="en-US" sz="2400" b="1" dirty="0"/>
              <a:t>     Specific Objectives</a:t>
            </a:r>
          </a:p>
          <a:p>
            <a:r>
              <a:rPr lang="en-US" sz="2000" dirty="0"/>
              <a:t>To capture real-time facial images using a standard camera</a:t>
            </a:r>
          </a:p>
          <a:p>
            <a:r>
              <a:rPr lang="en-US" sz="2000" dirty="0"/>
              <a:t>To detect facial and iris landmarks using </a:t>
            </a:r>
            <a:r>
              <a:rPr lang="en-US" sz="2000" dirty="0" err="1"/>
              <a:t>MediaPipe</a:t>
            </a:r>
            <a:r>
              <a:rPr lang="en-US" sz="2000" dirty="0"/>
              <a:t> Face Mesh</a:t>
            </a:r>
          </a:p>
          <a:p>
            <a:r>
              <a:rPr lang="en-US" sz="2000" dirty="0"/>
              <a:t>To estimate gaze direction accurately in real time</a:t>
            </a:r>
          </a:p>
          <a:p>
            <a:r>
              <a:rPr lang="en-US" sz="2000" dirty="0"/>
              <a:t>To implement blink detection using the Eye Aspect Ratio (EAR) method</a:t>
            </a:r>
          </a:p>
          <a:p>
            <a:r>
              <a:rPr lang="en-US" sz="2000" dirty="0"/>
              <a:t>To map gaze direction to a 2-DOF pan–tilt servo mechanism</a:t>
            </a:r>
          </a:p>
          <a:p>
            <a:r>
              <a:rPr lang="en-US" sz="2000" dirty="0"/>
              <a:t>To project the user’s gaze location using a low-power laser pointer</a:t>
            </a:r>
          </a:p>
          <a:p>
            <a:r>
              <a:rPr lang="en-US" sz="2000" dirty="0"/>
              <a:t>To establish serial communication between Python and ESP32</a:t>
            </a:r>
          </a:p>
          <a:p>
            <a:r>
              <a:rPr lang="en-US" sz="2000" dirty="0"/>
              <a:t>To develop a low-cost, portable assistive prototype</a:t>
            </a:r>
          </a:p>
          <a:p>
            <a:r>
              <a:rPr lang="en-US" sz="2000" dirty="0"/>
              <a:t>To ensure real-time performance suitable for assistive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46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6765-1410-E51B-1F94-C7480D59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7586"/>
            <a:ext cx="7729728" cy="94705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1AC4-1FD5-FB20-3C61-2E1BADE6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243" y="1698171"/>
            <a:ext cx="9127671" cy="4882243"/>
          </a:xfrm>
        </p:spPr>
        <p:txBody>
          <a:bodyPr>
            <a:normAutofit/>
          </a:bodyPr>
          <a:lstStyle/>
          <a:p>
            <a:r>
              <a:rPr lang="en-US" sz="2000" dirty="0"/>
              <a:t>Existing assistive communication systems are often:</a:t>
            </a:r>
          </a:p>
          <a:p>
            <a:pPr lvl="1"/>
            <a:r>
              <a:rPr lang="en-US" sz="2000" dirty="0"/>
              <a:t>Expensive</a:t>
            </a:r>
          </a:p>
          <a:p>
            <a:pPr lvl="1"/>
            <a:r>
              <a:rPr lang="en-US" sz="2000" dirty="0"/>
              <a:t>Hardware-intensive</a:t>
            </a:r>
          </a:p>
          <a:p>
            <a:pPr lvl="1"/>
            <a:r>
              <a:rPr lang="en-US" sz="2000" dirty="0"/>
              <a:t>Limited to screen-based interaction</a:t>
            </a:r>
          </a:p>
          <a:p>
            <a:r>
              <a:rPr lang="en-US" sz="2000" dirty="0"/>
              <a:t>Commercial eye trackers are not affordable for many users.</a:t>
            </a:r>
          </a:p>
          <a:p>
            <a:r>
              <a:rPr lang="en-US" sz="2000" dirty="0"/>
              <a:t>Traditional image processing methods are sensitive to:</a:t>
            </a:r>
          </a:p>
          <a:p>
            <a:pPr lvl="1"/>
            <a:r>
              <a:rPr lang="en-US" sz="2000" dirty="0"/>
              <a:t>Lighting variations</a:t>
            </a:r>
          </a:p>
          <a:p>
            <a:pPr lvl="1"/>
            <a:r>
              <a:rPr lang="en-US" sz="2000" dirty="0"/>
              <a:t>Head movement</a:t>
            </a:r>
          </a:p>
          <a:p>
            <a:pPr lvl="1"/>
            <a:r>
              <a:rPr lang="en-US" sz="2000" dirty="0"/>
              <a:t>Occlusions (glasses, partial face)</a:t>
            </a:r>
          </a:p>
          <a:p>
            <a:r>
              <a:rPr lang="en-US" sz="2000" dirty="0"/>
              <a:t>There is a need for a low-cost, robust, real-time gaze-controlled physical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95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1902-5751-728F-5D17-A1A66627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7200"/>
            <a:ext cx="7729728" cy="1224643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A979-8E55-5199-EE28-F92A69836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186" y="1943100"/>
            <a:ext cx="9144000" cy="4457700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The proposed system presents an AI-based eye gaze tracking interface that converts eye movements into physical laser positioning.</a:t>
            </a:r>
          </a:p>
          <a:p>
            <a:r>
              <a:rPr lang="en-IN" sz="2400" b="1" dirty="0"/>
              <a:t>Key Features</a:t>
            </a:r>
          </a:p>
          <a:p>
            <a:r>
              <a:rPr lang="en-IN" sz="2400" dirty="0"/>
              <a:t>Real-time facial landmark detection using </a:t>
            </a:r>
            <a:r>
              <a:rPr lang="en-IN" sz="2400" dirty="0" err="1"/>
              <a:t>MediaPipe</a:t>
            </a:r>
            <a:endParaRPr lang="en-IN" sz="2400" dirty="0"/>
          </a:p>
          <a:p>
            <a:r>
              <a:rPr lang="en-IN" sz="2400" dirty="0"/>
              <a:t>Iris-based gaze direction estimation</a:t>
            </a:r>
          </a:p>
          <a:p>
            <a:r>
              <a:rPr lang="en-IN" sz="2400" dirty="0"/>
              <a:t>Blink detection using Eye Aspect Ratio (EAR)</a:t>
            </a:r>
          </a:p>
          <a:p>
            <a:r>
              <a:rPr lang="en-IN" sz="2400" dirty="0"/>
              <a:t>Pan–tilt servo mechanism for 2-DOF movement</a:t>
            </a:r>
          </a:p>
          <a:p>
            <a:r>
              <a:rPr lang="en-IN" sz="2400" dirty="0"/>
              <a:t>Low-power laser pointer for visual feedback</a:t>
            </a:r>
          </a:p>
          <a:p>
            <a:r>
              <a:rPr lang="en-IN" sz="2400" dirty="0"/>
              <a:t>Embedded control using ESP32</a:t>
            </a:r>
          </a:p>
          <a:p>
            <a:r>
              <a:rPr lang="en-IN" sz="2400" dirty="0"/>
              <a:t>Low-cost and non-intrusive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54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26FF-D860-93FE-6A0C-2082E379E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9614"/>
            <a:ext cx="7729728" cy="938359"/>
          </a:xfrm>
        </p:spPr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8E581-A95B-5D02-FD58-26B2FB00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117974"/>
            <a:ext cx="7729728" cy="574002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200" dirty="0"/>
              <a:t>Camera</a:t>
            </a:r>
          </a:p>
          <a:p>
            <a:pPr marL="0" indent="0" algn="ctr">
              <a:buNone/>
            </a:pPr>
            <a:r>
              <a:rPr lang="en-IN" sz="2200" dirty="0"/>
              <a:t>   ↓</a:t>
            </a:r>
          </a:p>
          <a:p>
            <a:pPr marL="0" indent="0" algn="ctr">
              <a:buNone/>
            </a:pPr>
            <a:r>
              <a:rPr lang="en-IN" sz="2200" dirty="0" err="1"/>
              <a:t>MediaPipe</a:t>
            </a:r>
            <a:r>
              <a:rPr lang="en-IN" sz="2200" dirty="0"/>
              <a:t> Face Mesh</a:t>
            </a:r>
          </a:p>
          <a:p>
            <a:pPr marL="0" indent="0" algn="ctr">
              <a:buNone/>
            </a:pPr>
            <a:r>
              <a:rPr lang="en-IN" sz="2200" dirty="0"/>
              <a:t>   ↓</a:t>
            </a:r>
          </a:p>
          <a:p>
            <a:pPr marL="0" indent="0" algn="ctr">
              <a:buNone/>
            </a:pPr>
            <a:r>
              <a:rPr lang="en-IN" sz="2200" dirty="0"/>
              <a:t>Iris &amp; Eye Feature Extraction</a:t>
            </a:r>
          </a:p>
          <a:p>
            <a:pPr marL="0" indent="0" algn="ctr">
              <a:buNone/>
            </a:pPr>
            <a:r>
              <a:rPr lang="en-IN" sz="2200" dirty="0"/>
              <a:t>   ↓</a:t>
            </a:r>
          </a:p>
          <a:p>
            <a:pPr marL="0" indent="0" algn="ctr">
              <a:buNone/>
            </a:pPr>
            <a:r>
              <a:rPr lang="en-IN" sz="2200" dirty="0"/>
              <a:t>Gaze Estimation + Blink Detection</a:t>
            </a:r>
          </a:p>
          <a:p>
            <a:pPr marL="0" indent="0" algn="ctr">
              <a:buNone/>
            </a:pPr>
            <a:r>
              <a:rPr lang="en-IN" sz="2200" dirty="0"/>
              <a:t>   ↓</a:t>
            </a:r>
          </a:p>
          <a:p>
            <a:pPr marL="0" indent="0" algn="ctr">
              <a:buNone/>
            </a:pPr>
            <a:r>
              <a:rPr lang="en-IN" sz="2200" dirty="0"/>
              <a:t>Decision Logic</a:t>
            </a:r>
          </a:p>
          <a:p>
            <a:pPr marL="0" indent="0" algn="ctr">
              <a:buNone/>
            </a:pPr>
            <a:r>
              <a:rPr lang="en-IN" sz="2200" dirty="0"/>
              <a:t>   ↓</a:t>
            </a:r>
          </a:p>
          <a:p>
            <a:pPr marL="0" indent="0" algn="ctr">
              <a:buNone/>
            </a:pPr>
            <a:r>
              <a:rPr lang="en-IN" sz="2200" dirty="0"/>
              <a:t>ESP32 Controller</a:t>
            </a:r>
          </a:p>
          <a:p>
            <a:pPr marL="0" indent="0" algn="ctr">
              <a:buNone/>
            </a:pPr>
            <a:r>
              <a:rPr lang="en-IN" sz="2200" dirty="0"/>
              <a:t>   ↓</a:t>
            </a:r>
          </a:p>
          <a:p>
            <a:pPr marL="0" indent="0" algn="ctr">
              <a:buNone/>
            </a:pPr>
            <a:r>
              <a:rPr lang="en-IN" sz="2200" dirty="0"/>
              <a:t>Pan-Tilt Servos + Laser Pointer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46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1EFE-7998-0A46-801C-3888A96F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00100"/>
            <a:ext cx="7729728" cy="1355271"/>
          </a:xfrm>
        </p:spPr>
        <p:txBody>
          <a:bodyPr/>
          <a:lstStyle/>
          <a:p>
            <a:r>
              <a:rPr lang="en-IN" dirty="0"/>
              <a:t>Block Diagram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C4842A-DA55-FACF-F297-C3598072A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1457" y="2634764"/>
            <a:ext cx="876844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camera captures real-time facial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extracts facial and iris landmarks.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Gaze estimation determines viewing direction.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Blink detection confirms user intent.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logic generates control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drives pan–tilt servos.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Laser pointer indicates the user’s point of attention.</a:t>
            </a:r>
          </a:p>
        </p:txBody>
      </p:sp>
    </p:spTree>
    <p:extLst>
      <p:ext uri="{BB962C8B-B14F-4D97-AF65-F5344CB8AC3E}">
        <p14:creationId xmlns:p14="http://schemas.microsoft.com/office/powerpoint/2010/main" val="420441655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63</TotalTime>
  <Words>428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AI-Based Laser Eye Gaze Detection and Assistive Control System</vt:lpstr>
      <vt:lpstr>Introduction</vt:lpstr>
      <vt:lpstr>Objective of the Project</vt:lpstr>
      <vt:lpstr>Problem Statement</vt:lpstr>
      <vt:lpstr>Proposed Solution</vt:lpstr>
      <vt:lpstr>Block Diagram</vt:lpstr>
      <vt:lpstr>Block Diagram 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mohan</dc:creator>
  <cp:lastModifiedBy>rahul mohan</cp:lastModifiedBy>
  <cp:revision>1</cp:revision>
  <dcterms:created xsi:type="dcterms:W3CDTF">2026-02-23T19:43:40Z</dcterms:created>
  <dcterms:modified xsi:type="dcterms:W3CDTF">2026-02-23T20:47:20Z</dcterms:modified>
</cp:coreProperties>
</file>